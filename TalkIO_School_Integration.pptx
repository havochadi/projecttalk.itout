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9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097280"/>
            <a:ext cx="3200400" cy="32004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457200"/>
            <a:ext cx="2011680" cy="2011680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02C39A">
              <a:alpha val="8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3954"/>
                </a:solidFill>
              </a:rPr>
              <a:t>TALK.IO OVERVIEW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Talk.IO in Schools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Talk.IO fits into current school systems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how it addresses key AI concerns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365760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Institute of Technology  |  UCS1001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3954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TALK.IO FITS INTO CURRENT SCHOOL SYSTEMS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2743200" cy="1600200"/>
          </a:xfrm>
          <a:prstGeom prst="rect">
            <a:avLst/>
          </a:prstGeom>
          <a:solidFill>
            <a:srgbClr val="F0F9FA"/>
          </a:solidFill>
          <a:ln w="12700">
            <a:solidFill>
              <a:srgbClr val="C5E8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1887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114300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Counsellor Capacity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84048" y="1527048"/>
            <a:ext cx="25237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school has only 1–2 counsellors. Talk.IO acts as the first-tier filter, escalating only high-risk cases for human attention.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84048" y="2395728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MOE, 2025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743200" cy="1600200"/>
          </a:xfrm>
          <a:prstGeom prst="rect">
            <a:avLst/>
          </a:prstGeom>
          <a:solidFill>
            <a:srgbClr val="F0F9FA"/>
          </a:solidFill>
          <a:ln w="12700">
            <a:solidFill>
              <a:srgbClr val="C5E8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05156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1887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49040" y="114300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Access Ready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355848" y="1527048"/>
            <a:ext cx="25237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secondary student already owns a school-issued PLD (iPad/laptop). No new hardware is needed to deploy Talk.IO.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355848" y="2395728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MOE NDLP, 2021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217920" y="1051560"/>
            <a:ext cx="2743200" cy="1600200"/>
          </a:xfrm>
          <a:prstGeom prst="rect">
            <a:avLst/>
          </a:prstGeom>
          <a:solidFill>
            <a:srgbClr val="F0F9FA"/>
          </a:solidFill>
          <a:ln w="12700">
            <a:solidFill>
              <a:srgbClr val="C5E8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17920" y="105156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18872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20840" y="114300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CCE Curriculum Fit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327648" y="1527048"/>
            <a:ext cx="25237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MOE's CCE curriculum covers mental health education. Talk.IO reinforces these lessons outside class hours in real time.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6327648" y="2395728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MOE Mental Health, 2025</a:t>
            </a:r>
            <a:endParaRPr lang="en-US" sz="750" dirty="0"/>
          </a:p>
        </p:txBody>
      </p:sp>
      <p:sp>
        <p:nvSpPr>
          <p:cNvPr id="23" name="Shape 18"/>
          <p:cNvSpPr/>
          <p:nvPr/>
        </p:nvSpPr>
        <p:spPr>
          <a:xfrm>
            <a:off x="274320" y="2834640"/>
            <a:ext cx="2743200" cy="1600200"/>
          </a:xfrm>
          <a:prstGeom prst="rect">
            <a:avLst/>
          </a:prstGeom>
          <a:solidFill>
            <a:srgbClr val="F0F9FA"/>
          </a:solidFill>
          <a:ln w="12700">
            <a:solidFill>
              <a:srgbClr val="C5E8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274320" y="283464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97180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7724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Pathway Alignment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384048" y="3310128"/>
            <a:ext cx="25237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Talk.IO's tiered alert system mirrors MOE's existing REACH escalation model, connecting students to professionals when needed.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384048" y="4178808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IMH REACH, 2007</a:t>
            </a:r>
            <a:endParaRPr lang="en-US" sz="750" dirty="0"/>
          </a:p>
        </p:txBody>
      </p:sp>
      <p:sp>
        <p:nvSpPr>
          <p:cNvPr id="29" name="Shape 23"/>
          <p:cNvSpPr/>
          <p:nvPr/>
        </p:nvSpPr>
        <p:spPr>
          <a:xfrm>
            <a:off x="3246120" y="2834640"/>
            <a:ext cx="2743200" cy="1600200"/>
          </a:xfrm>
          <a:prstGeom prst="rect">
            <a:avLst/>
          </a:prstGeom>
          <a:solidFill>
            <a:srgbClr val="F0F9FA"/>
          </a:solidFill>
          <a:ln w="12700">
            <a:solidFill>
              <a:srgbClr val="C5E8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246120" y="283464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5848" y="2971800"/>
            <a:ext cx="320040" cy="32004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74904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Education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3355848" y="3310128"/>
            <a:ext cx="25237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held AI learning journeys for educators in 2024, signalling institutional readiness for AI-assisted tools in schools.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3355848" y="4178808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AICET x MOE, 2024</a:t>
            </a:r>
            <a:endParaRPr lang="en-US" sz="750" dirty="0"/>
          </a:p>
        </p:txBody>
      </p:sp>
      <p:sp>
        <p:nvSpPr>
          <p:cNvPr id="35" name="Shape 28"/>
          <p:cNvSpPr/>
          <p:nvPr/>
        </p:nvSpPr>
        <p:spPr>
          <a:xfrm>
            <a:off x="6217920" y="2834640"/>
            <a:ext cx="2743200" cy="1600200"/>
          </a:xfrm>
          <a:prstGeom prst="rect">
            <a:avLst/>
          </a:prstGeom>
          <a:solidFill>
            <a:srgbClr val="F0F9FA"/>
          </a:solidFill>
          <a:ln w="12700">
            <a:solidFill>
              <a:srgbClr val="C5E8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217920" y="283464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2971800"/>
            <a:ext cx="320040" cy="32004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72084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Teacher-Counsellor Support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6327648" y="3310128"/>
            <a:ext cx="25237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is deploying 1,000+ teacher-counsellors. Talk.IO's dashboard gives them data-driven alerts to prioritise their caseload.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6327648" y="4178808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DPM Wong, Feb 2024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CONCERNS: AI FOR YOUNG LEARNERS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8595360" cy="1005840"/>
          </a:xfrm>
          <a:prstGeom prst="rect">
            <a:avLst/>
          </a:prstGeom>
          <a:solidFill>
            <a:srgbClr val="FFF5F2"/>
          </a:solidFill>
          <a:ln w="12700">
            <a:solidFill>
              <a:srgbClr val="F5C6B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73152" cy="100584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1556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106070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 Unsafe AI Responses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1389888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AI platforms (ChatGPT, Claude, Gemini, Meta AI) consistently fail to appropriately recognise teen mental health conditions.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04088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Common Sense Media &amp; Stanford Medicine, Nov 2025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74320" y="2148840"/>
            <a:ext cx="8595360" cy="1005840"/>
          </a:xfrm>
          <a:prstGeom prst="rect">
            <a:avLst/>
          </a:prstGeom>
          <a:solidFill>
            <a:srgbClr val="FFF5F2"/>
          </a:solidFill>
          <a:ln w="12700">
            <a:solidFill>
              <a:srgbClr val="F5C6B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" y="2148840"/>
            <a:ext cx="73152" cy="100584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5856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77240" y="220370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Dependency &amp; Over-reliance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77240" y="2532888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companions do not just mimic care — they displace it. Overreliance during adolescence can harm cognitive and emotional development.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7040880" y="2514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Psychiatric Times, 2026; PMC Research, 2024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274320" y="3291840"/>
            <a:ext cx="8595360" cy="1005840"/>
          </a:xfrm>
          <a:prstGeom prst="rect">
            <a:avLst/>
          </a:prstGeom>
          <a:solidFill>
            <a:srgbClr val="FFF5F2"/>
          </a:solidFill>
          <a:ln w="12700">
            <a:solidFill>
              <a:srgbClr val="F5C6B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74320" y="3291840"/>
            <a:ext cx="73152" cy="100584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401568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77240" y="334670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Cases of Harm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777240" y="3675888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2024, a 14-year-old formed an emotional bond with an AI chatbot. Without human oversight, the AI failed to detect suicidal ideation — with fatal consequences.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7040880" y="3657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Springer Nature, Apr 2025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274320" y="4297680"/>
            <a:ext cx="8595360" cy="731520"/>
          </a:xfrm>
          <a:prstGeom prst="rect">
            <a:avLst/>
          </a:prstGeom>
          <a:solidFill>
            <a:srgbClr val="FFF5F2"/>
          </a:solidFill>
          <a:ln w="12700">
            <a:solidFill>
              <a:srgbClr val="F5C6B4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274320" y="4297680"/>
            <a:ext cx="73152" cy="73152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407408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77240" y="435254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Youth-Specific Training Data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777240" y="4681728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are trained on scarce youth data due to strict privacy laws, meaning models are not adequately calibrated for users under 18.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7040880" y="4526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Springer Nature, Apr 2025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7A5F"/>
          </a:solidFill>
          <a:ln w="12700">
            <a:solidFill>
              <a:srgbClr val="027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TALK.IO ADDRESSES THESE CONCERNS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3200400" cy="365760"/>
          </a:xfrm>
          <a:prstGeom prst="rect">
            <a:avLst/>
          </a:prstGeom>
          <a:solidFill>
            <a:srgbClr val="FDECEA"/>
          </a:solidFill>
          <a:ln w="12700">
            <a:solidFill>
              <a:srgbClr val="F5C6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0" y="960120"/>
            <a:ext cx="5212080" cy="365760"/>
          </a:xfrm>
          <a:prstGeom prst="rect">
            <a:avLst/>
          </a:prstGeom>
          <a:solidFill>
            <a:srgbClr val="E6F7F4"/>
          </a:solidFill>
          <a:ln w="12700">
            <a:solidFill>
              <a:srgbClr val="A8DD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9601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TALK.IO RESPONDS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3200400" cy="640080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173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2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AI Responses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29000" y="141732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57600" y="1417320"/>
            <a:ext cx="5212080" cy="640080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1572768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114800" y="14173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Talk.IO escalates high-risk expressions (e.g. self-harm) to a trained school counsellor immediately — AI never handles crises alone.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74320" y="2148840"/>
            <a:ext cx="3200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21488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2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Dependency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429000" y="214884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3657600" y="2148840"/>
            <a:ext cx="52120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2304288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114800" y="21488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Talk.IO is explicitly designed as a bridge to human support, not a companion. It actively directs students toward counsellors and peers.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274320" y="2880360"/>
            <a:ext cx="3200400" cy="640080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57200" y="28803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2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Human Oversight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3429000" y="288036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3657600" y="2880360"/>
            <a:ext cx="5212080" cy="640080"/>
          </a:xfrm>
          <a:prstGeom prst="rect">
            <a:avLst/>
          </a:prstGeom>
          <a:solidFill>
            <a:srgbClr val="FAFAFA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3035808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114800" y="28803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counsellor dashboard provides real-time monitoring, risk scores, and message summaries — full human accountability at every step.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274320" y="3611880"/>
            <a:ext cx="3200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57200" y="36118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2D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Youth Training Data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3429000" y="361188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3657600" y="3611880"/>
            <a:ext cx="52120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3767328"/>
            <a:ext cx="274320" cy="27432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4114800" y="361188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Talk.IO is purpose-built for Singapore's school context, not a general-purpose LLM. It is calibrated specifically for the 12–16 age group.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274320" y="4343400"/>
            <a:ext cx="8595360" cy="502920"/>
          </a:xfrm>
          <a:prstGeom prst="rect">
            <a:avLst/>
          </a:prstGeom>
          <a:solidFill>
            <a:srgbClr val="EBF8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2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Talk.IO is not a replacement for professional support — it is a safeguarded first step that always leads back to a human.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9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0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MOE. (2025). Allocation of Counsellors to Schools. moe.gov.sg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1362456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0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MOE. (2021). Personal Learning Device Initiative – NDLP. moe.gov.sg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176479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0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MOE. (2025). Mental Health Education in CCE Curriculum. moe.gov.sg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216712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0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IMH. (2007). REACH Partners – Ministry of Education. imh.com.sg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2569464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0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DPM Lawrence Wong. (Feb 2024). Motion on Advancing Mental Health. pmo.gov.sg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754880" y="9601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0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AICET x MOE. (Jan 2024). Learning Journey for MOE Educators in AI. aicet.comp.nus.edu.sg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0" y="1362456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0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Common Sense Media &amp; Stanford Medicine. (Nov 2025). AI Chatbots Unsafe for Teen Mental Health Support. commonsensemedia.org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0" y="1764792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0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Psychiatric Times. (Apr 2026). Protecting Children From Chatbot Companions. psychiatrictimes.com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0" y="2167128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0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PMC / Dove Medical Press. (Mar 2024). AI Dependence &amp; Adolescent Mental Health. pmc.ncbi.nlm.nih.gov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0" y="2569464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0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Springer Nature. (Apr 2025). Integrating AI in Youth Mental Health Care. link.springer.com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Talk.IO – Fitting Into Schools &amp; Addressing Concerns</dc:title>
  <dc:subject>PptxGenJS Presentation</dc:subject>
  <dc:creator>PptxGenJS</dc:creator>
  <cp:lastModifiedBy>PptxGenJS</cp:lastModifiedBy>
  <cp:revision>1</cp:revision>
  <dcterms:created xsi:type="dcterms:W3CDTF">2026-06-03T09:39:45Z</dcterms:created>
  <dcterms:modified xsi:type="dcterms:W3CDTF">2026-06-03T09:39:45Z</dcterms:modified>
</cp:coreProperties>
</file>