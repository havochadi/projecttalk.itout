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FE93D-4B0E-4EEE-ADC1-96E245D24C0D}" v="1" dt="2026-06-04T17:31:20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l Hadi" userId="15a5769e4225d5d5" providerId="LiveId" clId="{C89FE40A-52A0-47F8-BA5B-4BDD196102B7}"/>
    <pc:docChg chg="undo custSel modSld">
      <pc:chgData name="Adil Hadi" userId="15a5769e4225d5d5" providerId="LiveId" clId="{C89FE40A-52A0-47F8-BA5B-4BDD196102B7}" dt="2026-06-04T17:53:26.278" v="42" actId="1076"/>
      <pc:docMkLst>
        <pc:docMk/>
      </pc:docMkLst>
      <pc:sldChg chg="addSp delSp modSp mod">
        <pc:chgData name="Adil Hadi" userId="15a5769e4225d5d5" providerId="LiveId" clId="{C89FE40A-52A0-47F8-BA5B-4BDD196102B7}" dt="2026-06-04T17:53:26.278" v="42" actId="1076"/>
        <pc:sldMkLst>
          <pc:docMk/>
          <pc:sldMk cId="0" sldId="256"/>
        </pc:sldMkLst>
        <pc:spChg chg="mod">
          <ac:chgData name="Adil Hadi" userId="15a5769e4225d5d5" providerId="LiveId" clId="{C89FE40A-52A0-47F8-BA5B-4BDD196102B7}" dt="2026-06-04T17:53:22.608" v="41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dil Hadi" userId="15a5769e4225d5d5" providerId="LiveId" clId="{C89FE40A-52A0-47F8-BA5B-4BDD196102B7}" dt="2026-06-04T17:53:26.278" v="4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dil Hadi" userId="15a5769e4225d5d5" providerId="LiveId" clId="{C89FE40A-52A0-47F8-BA5B-4BDD196102B7}" dt="2026-06-04T17:53:22.608" v="41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dil Hadi" userId="15a5769e4225d5d5" providerId="LiveId" clId="{C89FE40A-52A0-47F8-BA5B-4BDD196102B7}" dt="2026-06-04T17:53:14.164" v="40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dil Hadi" userId="15a5769e4225d5d5" providerId="LiveId" clId="{C89FE40A-52A0-47F8-BA5B-4BDD196102B7}" dt="2026-06-04T17:53:14.164" v="40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dil Hadi" userId="15a5769e4225d5d5" providerId="LiveId" clId="{C89FE40A-52A0-47F8-BA5B-4BDD196102B7}" dt="2026-06-04T17:53:14.164" v="40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53.550" v="38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dil Hadi" userId="15a5769e4225d5d5" providerId="LiveId" clId="{C89FE40A-52A0-47F8-BA5B-4BDD196102B7}" dt="2026-06-04T17:53:01.512" v="39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53.550" v="38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34.201" v="36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42.636" v="37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34.201" v="36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10.421" v="31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10.421" v="31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Adil Hadi" userId="15a5769e4225d5d5" providerId="LiveId" clId="{C89FE40A-52A0-47F8-BA5B-4BDD196102B7}" dt="2026-06-04T17:52:10.421" v="31" actId="1076"/>
          <ac:spMkLst>
            <pc:docMk/>
            <pc:sldMk cId="0" sldId="256"/>
            <ac:spMk id="19" creationId="{00000000-0000-0000-0000-000000000000}"/>
          </ac:spMkLst>
        </pc:spChg>
        <pc:spChg chg="add del">
          <ac:chgData name="Adil Hadi" userId="15a5769e4225d5d5" providerId="LiveId" clId="{C89FE40A-52A0-47F8-BA5B-4BDD196102B7}" dt="2026-06-04T17:51:54.852" v="30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Adil Hadi" userId="15a5769e4225d5d5" providerId="LiveId" clId="{C89FE40A-52A0-47F8-BA5B-4BDD196102B7}" dt="2026-06-04T17:51:43.434" v="25" actId="47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dil Hadi" userId="15a5769e4225d5d5" providerId="LiveId" clId="{C89FE40A-52A0-47F8-BA5B-4BDD196102B7}" dt="2026-06-04T17:30:51.936" v="13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dil Hadi" userId="15a5769e4225d5d5" providerId="LiveId" clId="{C89FE40A-52A0-47F8-BA5B-4BDD196102B7}" dt="2026-06-04T17:30:40.811" v="7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Adil Hadi" userId="15a5769e4225d5d5" providerId="LiveId" clId="{C89FE40A-52A0-47F8-BA5B-4BDD196102B7}" dt="2026-06-04T17:30:52.260" v="15" actId="107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53" creationId="{00000000-0000-0000-0000-000000000000}"/>
          </ac:spMkLst>
        </pc:spChg>
        <pc:spChg chg="mod">
          <ac:chgData name="Adil Hadi" userId="15a5769e4225d5d5" providerId="LiveId" clId="{C89FE40A-52A0-47F8-BA5B-4BDD196102B7}" dt="2026-06-04T17:31:18.442" v="20" actId="1076"/>
          <ac:spMkLst>
            <pc:docMk/>
            <pc:sldMk cId="0" sldId="256"/>
            <ac:spMk id="54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55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56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57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59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60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61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62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63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64" creationId="{00000000-0000-0000-0000-000000000000}"/>
          </ac:spMkLst>
        </pc:spChg>
        <pc:spChg chg="del mod">
          <ac:chgData name="Adil Hadi" userId="15a5769e4225d5d5" providerId="LiveId" clId="{C89FE40A-52A0-47F8-BA5B-4BDD196102B7}" dt="2026-06-04T17:31:06.502" v="19" actId="478"/>
          <ac:spMkLst>
            <pc:docMk/>
            <pc:sldMk cId="0" sldId="256"/>
            <ac:spMk id="65" creationId="{00000000-0000-0000-0000-000000000000}"/>
          </ac:spMkLst>
        </pc:spChg>
        <pc:spChg chg="ord">
          <ac:chgData name="Adil Hadi" userId="15a5769e4225d5d5" providerId="LiveId" clId="{C89FE40A-52A0-47F8-BA5B-4BDD196102B7}" dt="2026-06-04T17:40:32.171" v="24" actId="167"/>
          <ac:spMkLst>
            <pc:docMk/>
            <pc:sldMk cId="0" sldId="256"/>
            <ac:spMk id="66" creationId="{00000000-0000-0000-0000-000000000000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68" creationId="{995DD32F-F3A2-292D-F674-C2FD21BFE1B0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69" creationId="{5EDDF98E-FDE1-F327-5AB4-9995293755DE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0" creationId="{C6BC2C9B-5498-70A7-4DFF-4A8B3C46BF05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2" creationId="{B8587C2C-AE3C-07A7-7C8B-9E2164CD3F96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3" creationId="{12A95531-6FB1-6B42-EC71-BE57476A0149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4" creationId="{9843B3DE-AFB9-687F-7CD6-B6A810B03D06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5" creationId="{A3757E2D-3DAF-8018-7400-45CDD87A4C4C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6" creationId="{A5D3B64C-49AD-6062-D1C0-08C6ED959D39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7" creationId="{2630D050-55EE-9630-E63E-CA9587F4C189}"/>
          </ac:spMkLst>
        </pc:spChg>
        <pc:spChg chg="add mod">
          <ac:chgData name="Adil Hadi" userId="15a5769e4225d5d5" providerId="LiveId" clId="{C89FE40A-52A0-47F8-BA5B-4BDD196102B7}" dt="2026-06-04T17:31:30.154" v="22" actId="1076"/>
          <ac:spMkLst>
            <pc:docMk/>
            <pc:sldMk cId="0" sldId="256"/>
            <ac:spMk id="78" creationId="{796B99CB-EA58-5A44-71C8-D6CD5B55F0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654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Ages 12–16?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justification for our target age group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15568"/>
            <a:ext cx="786384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24712" y="971877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24712" y="9692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" y="1291917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62072" y="99212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862072" y="9921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24912" y="131216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43984" y="987552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3984" y="996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06824" y="13075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82135" y="999309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82135" y="999309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44975" y="1319349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39743" y="999309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39743" y="999309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02583" y="1319349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O-Levels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64592" y="1664208"/>
            <a:ext cx="2084832" cy="3246120"/>
          </a:xfrm>
          <a:prstGeom prst="rect">
            <a:avLst/>
          </a:prstGeom>
          <a:solidFill>
            <a:srgbClr val="1A1040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64592" y="1664208"/>
            <a:ext cx="208483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1773936"/>
            <a:ext cx="347472" cy="347472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810512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237744" y="2194560"/>
            <a:ext cx="19476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12 — PSLE Pressure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37744" y="2715768"/>
            <a:ext cx="1938528" cy="1828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28803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38912" y="280720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subjects 12-year-olds to high-stakes exams earlier than most developed nations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36576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38912" y="35844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12-year-old client reported: 'I need to score AL1 or I will be poor'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37744" y="4636008"/>
            <a:ext cx="19751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EveryChild.sg Academic Stress Report, 2025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404872" y="1664208"/>
            <a:ext cx="2084832" cy="3246120"/>
          </a:xfrm>
          <a:prstGeom prst="rect">
            <a:avLst/>
          </a:prstGeom>
          <a:solidFill>
            <a:srgbClr val="1F0A0A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404872" y="1664208"/>
            <a:ext cx="208483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2514600" y="1773936"/>
            <a:ext cx="347472" cy="347472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810512"/>
            <a:ext cx="256032" cy="25603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2478024" y="2194560"/>
            <a:ext cx="19476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Mental Health Onset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2478024" y="2715768"/>
            <a:ext cx="1938528" cy="1828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2514600" y="288036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2679192" y="280720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all mental health problems first occur before age 14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2514600" y="36576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2679192" y="35844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youth aged 10–18 report internalising symptoms such as depression and anxiety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2478024" y="4636008"/>
            <a:ext cx="19751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EveryChild.sg, 2025; MHIN Research, 2024</a:t>
            </a:r>
            <a:endParaRPr lang="en-US" sz="700" dirty="0"/>
          </a:p>
        </p:txBody>
      </p:sp>
      <p:sp>
        <p:nvSpPr>
          <p:cNvPr id="44" name="Shape 40"/>
          <p:cNvSpPr/>
          <p:nvPr/>
        </p:nvSpPr>
        <p:spPr>
          <a:xfrm>
            <a:off x="6940296" y="1664208"/>
            <a:ext cx="2084832" cy="3246120"/>
          </a:xfrm>
          <a:prstGeom prst="rect">
            <a:avLst/>
          </a:prstGeom>
          <a:solidFill>
            <a:srgbClr val="081A20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6940296" y="1664208"/>
            <a:ext cx="208483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7050024" y="1773936"/>
            <a:ext cx="347472" cy="347472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810512"/>
            <a:ext cx="256032" cy="256032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7013448" y="2194560"/>
            <a:ext cx="19476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16 — O-Level Stress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7013448" y="2715768"/>
            <a:ext cx="1938528" cy="18288"/>
          </a:xfrm>
          <a:prstGeom prst="rect">
            <a:avLst/>
          </a:prstGeom>
          <a:solidFill>
            <a:srgbClr val="0E4F6A"/>
          </a:solidFill>
          <a:ln w="12700">
            <a:solidFill>
              <a:srgbClr val="0E4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7050024" y="28803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7214616" y="280720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secondary students report stressful academic experiences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7050024" y="3657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7214616" y="35844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O-Levels at 16 determine post-secondary track — JC, Poly, or ITE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7013448" y="4636008"/>
            <a:ext cx="19751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MOE Singapore; MHIN Research, 2024</a:t>
            </a:r>
            <a:endParaRPr lang="en-US" sz="700" dirty="0"/>
          </a:p>
        </p:txBody>
      </p:sp>
      <p:sp>
        <p:nvSpPr>
          <p:cNvPr id="67" name="Text 61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12–16 represent Singapore's two highest-stakes academic milestones — and the earliest window for effective mental health intervention.</a:t>
            </a:r>
            <a:endParaRPr lang="en-US" sz="900" dirty="0"/>
          </a:p>
        </p:txBody>
      </p:sp>
      <p:sp>
        <p:nvSpPr>
          <p:cNvPr id="68" name="Shape 50">
            <a:extLst>
              <a:ext uri="{FF2B5EF4-FFF2-40B4-BE49-F238E27FC236}">
                <a16:creationId xmlns:a16="http://schemas.microsoft.com/office/drawing/2014/main" id="{995DD32F-F3A2-292D-F674-C2FD21BFE1B0}"/>
              </a:ext>
            </a:extLst>
          </p:cNvPr>
          <p:cNvSpPr/>
          <p:nvPr/>
        </p:nvSpPr>
        <p:spPr>
          <a:xfrm>
            <a:off x="4690872" y="1664208"/>
            <a:ext cx="2084832" cy="3246120"/>
          </a:xfrm>
          <a:prstGeom prst="rect">
            <a:avLst/>
          </a:prstGeom>
          <a:solidFill>
            <a:srgbClr val="071A10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51">
            <a:extLst>
              <a:ext uri="{FF2B5EF4-FFF2-40B4-BE49-F238E27FC236}">
                <a16:creationId xmlns:a16="http://schemas.microsoft.com/office/drawing/2014/main" id="{5EDDF98E-FDE1-F327-5AB4-9995293755DE}"/>
              </a:ext>
            </a:extLst>
          </p:cNvPr>
          <p:cNvSpPr/>
          <p:nvPr/>
        </p:nvSpPr>
        <p:spPr>
          <a:xfrm>
            <a:off x="4690872" y="1664208"/>
            <a:ext cx="208483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52">
            <a:extLst>
              <a:ext uri="{FF2B5EF4-FFF2-40B4-BE49-F238E27FC236}">
                <a16:creationId xmlns:a16="http://schemas.microsoft.com/office/drawing/2014/main" id="{C6BC2C9B-5498-70A7-4DFF-4A8B3C46BF05}"/>
              </a:ext>
            </a:extLst>
          </p:cNvPr>
          <p:cNvSpPr/>
          <p:nvPr/>
        </p:nvSpPr>
        <p:spPr>
          <a:xfrm>
            <a:off x="4800600" y="1773936"/>
            <a:ext cx="347472" cy="347472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3" descr="preencoded.png">
            <a:extLst>
              <a:ext uri="{FF2B5EF4-FFF2-40B4-BE49-F238E27FC236}">
                <a16:creationId xmlns:a16="http://schemas.microsoft.com/office/drawing/2014/main" id="{C9336DB9-0D07-6711-BB5D-A0712B2FB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1810512"/>
            <a:ext cx="256032" cy="256032"/>
          </a:xfrm>
          <a:prstGeom prst="rect">
            <a:avLst/>
          </a:prstGeom>
        </p:spPr>
      </p:pic>
      <p:sp>
        <p:nvSpPr>
          <p:cNvPr id="72" name="Text 53">
            <a:extLst>
              <a:ext uri="{FF2B5EF4-FFF2-40B4-BE49-F238E27FC236}">
                <a16:creationId xmlns:a16="http://schemas.microsoft.com/office/drawing/2014/main" id="{B8587C2C-AE3C-07A7-7C8B-9E2164CD3F96}"/>
              </a:ext>
            </a:extLst>
          </p:cNvPr>
          <p:cNvSpPr/>
          <p:nvPr/>
        </p:nvSpPr>
        <p:spPr>
          <a:xfrm>
            <a:off x="4764024" y="2194560"/>
            <a:ext cx="19476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Ready</a:t>
            </a:r>
            <a:endParaRPr lang="en-US" sz="1050" dirty="0"/>
          </a:p>
        </p:txBody>
      </p:sp>
      <p:sp>
        <p:nvSpPr>
          <p:cNvPr id="73" name="Shape 54">
            <a:extLst>
              <a:ext uri="{FF2B5EF4-FFF2-40B4-BE49-F238E27FC236}">
                <a16:creationId xmlns:a16="http://schemas.microsoft.com/office/drawing/2014/main" id="{12A95531-6FB1-6B42-EC71-BE57476A0149}"/>
              </a:ext>
            </a:extLst>
          </p:cNvPr>
          <p:cNvSpPr/>
          <p:nvPr/>
        </p:nvSpPr>
        <p:spPr>
          <a:xfrm>
            <a:off x="4764024" y="2715768"/>
            <a:ext cx="1938528" cy="1828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55">
            <a:extLst>
              <a:ext uri="{FF2B5EF4-FFF2-40B4-BE49-F238E27FC236}">
                <a16:creationId xmlns:a16="http://schemas.microsoft.com/office/drawing/2014/main" id="{9843B3DE-AFB9-687F-7CD6-B6A810B03D06}"/>
              </a:ext>
            </a:extLst>
          </p:cNvPr>
          <p:cNvSpPr/>
          <p:nvPr/>
        </p:nvSpPr>
        <p:spPr>
          <a:xfrm>
            <a:off x="4800600" y="288036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56">
            <a:extLst>
              <a:ext uri="{FF2B5EF4-FFF2-40B4-BE49-F238E27FC236}">
                <a16:creationId xmlns:a16="http://schemas.microsoft.com/office/drawing/2014/main" id="{A3757E2D-3DAF-8018-7400-45CDD87A4C4C}"/>
              </a:ext>
            </a:extLst>
          </p:cNvPr>
          <p:cNvSpPr/>
          <p:nvPr/>
        </p:nvSpPr>
        <p:spPr>
          <a:xfrm>
            <a:off x="4965192" y="280720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 first internet-connected device in Singapore: 8 years old</a:t>
            </a:r>
            <a:endParaRPr lang="en-US" sz="900" dirty="0"/>
          </a:p>
        </p:txBody>
      </p:sp>
      <p:sp>
        <p:nvSpPr>
          <p:cNvPr id="76" name="Shape 57">
            <a:extLst>
              <a:ext uri="{FF2B5EF4-FFF2-40B4-BE49-F238E27FC236}">
                <a16:creationId xmlns:a16="http://schemas.microsoft.com/office/drawing/2014/main" id="{A5D3B64C-49AD-6062-D1C0-08C6ED959D39}"/>
              </a:ext>
            </a:extLst>
          </p:cNvPr>
          <p:cNvSpPr/>
          <p:nvPr/>
        </p:nvSpPr>
        <p:spPr>
          <a:xfrm>
            <a:off x="4800600" y="365760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58">
            <a:extLst>
              <a:ext uri="{FF2B5EF4-FFF2-40B4-BE49-F238E27FC236}">
                <a16:creationId xmlns:a16="http://schemas.microsoft.com/office/drawing/2014/main" id="{2630D050-55EE-9630-E63E-CA9587F4C189}"/>
              </a:ext>
            </a:extLst>
          </p:cNvPr>
          <p:cNvSpPr/>
          <p:nvPr/>
        </p:nvSpPr>
        <p:spPr>
          <a:xfrm>
            <a:off x="4965192" y="3584448"/>
            <a:ext cx="17373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secondary student (from Sec 1) owns a school-issued PLD</a:t>
            </a:r>
            <a:endParaRPr lang="en-US" sz="900" dirty="0"/>
          </a:p>
        </p:txBody>
      </p:sp>
      <p:sp>
        <p:nvSpPr>
          <p:cNvPr id="78" name="Text 59">
            <a:extLst>
              <a:ext uri="{FF2B5EF4-FFF2-40B4-BE49-F238E27FC236}">
                <a16:creationId xmlns:a16="http://schemas.microsoft.com/office/drawing/2014/main" id="{796B99CB-EA58-5A44-71C8-D6CD5B55F032}"/>
              </a:ext>
            </a:extLst>
          </p:cNvPr>
          <p:cNvSpPr/>
          <p:nvPr/>
        </p:nvSpPr>
        <p:spPr>
          <a:xfrm>
            <a:off x="4764024" y="4636008"/>
            <a:ext cx="197510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NUS x Google Survey; MOE NDLP, 2021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Concerns &amp; How Talk.IO Responds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53035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Acknowledging the risks of AI for young learners — and how Talk.IO is built differently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592" y="850392"/>
            <a:ext cx="4160520" cy="347472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90525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850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80560" y="850392"/>
            <a:ext cx="4498848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0525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4608" y="8503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TALK.IO ADDRESSES IT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25112" y="850392"/>
            <a:ext cx="15544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164592" y="1261872"/>
            <a:ext cx="4160520" cy="841248"/>
          </a:xfrm>
          <a:prstGeom prst="rect">
            <a:avLst/>
          </a:prstGeom>
          <a:solidFill>
            <a:srgbClr val="131F2E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64592" y="1261872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92608" y="1307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Unsafe AI Responses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92608" y="16093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AI platforms fail to recognise teen mental health conditions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92608" y="1874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Common Sense Media &amp; Stanford Medicine, Nov 2025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279392" y="1261872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480560" y="1261872"/>
            <a:ext cx="4498848" cy="841248"/>
          </a:xfrm>
          <a:prstGeom prst="rect">
            <a:avLst/>
          </a:prstGeom>
          <a:solidFill>
            <a:srgbClr val="131F2E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480560" y="1261872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15087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1353312"/>
            <a:ext cx="3913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escalates all high-risk messages to a trained school counsellor — AI never handles crises alone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164592" y="2148840"/>
            <a:ext cx="4160520" cy="8412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64592" y="2148840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292608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Dependency &amp; Over-reliance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292608" y="2496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companions can displace real human connection during adolescent development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292608" y="27614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Psychiatric Times, 2026; PMC Research, 2024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279392" y="2148840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4480560" y="2148840"/>
            <a:ext cx="4498848" cy="8412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480560" y="2148840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39572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983480" y="2240280"/>
            <a:ext cx="3913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is a bridge to human support, not a companion. It actively directs students toward counsellors and peers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64592" y="3035808"/>
            <a:ext cx="4160520" cy="841248"/>
          </a:xfrm>
          <a:prstGeom prst="rect">
            <a:avLst/>
          </a:prstGeom>
          <a:solidFill>
            <a:srgbClr val="131F2E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164592" y="3035808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292608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Cases of Harm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292608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a 14-year-old's AI chatbot failed to detect suicidal ideation without human oversight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292608" y="36484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Springer Nature, Apr 2025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4279392" y="3035808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4480560" y="3035808"/>
            <a:ext cx="4498848" cy="841248"/>
          </a:xfrm>
          <a:prstGeom prst="rect">
            <a:avLst/>
          </a:prstGeom>
          <a:solidFill>
            <a:srgbClr val="131F2E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4480560" y="3035808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282696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4983480" y="3127248"/>
            <a:ext cx="3913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dashboard provides real-time monitoring and risk summaries — full human accountability at every step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164592" y="3922776"/>
            <a:ext cx="4160520" cy="8412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164592" y="3922776"/>
            <a:ext cx="54864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292608" y="39684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Youth-Specific AI Training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292608" y="42702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AI models lack adequate calibration for users under 18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292608" y="45354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75569"/>
                </a:solidFill>
              </a:rPr>
              <a:t>Springer Nature, Apr 2025</a:t>
            </a:r>
            <a:endParaRPr lang="en-US" sz="750" dirty="0"/>
          </a:p>
        </p:txBody>
      </p:sp>
      <p:sp>
        <p:nvSpPr>
          <p:cNvPr id="46" name="Text 39"/>
          <p:cNvSpPr/>
          <p:nvPr/>
        </p:nvSpPr>
        <p:spPr>
          <a:xfrm>
            <a:off x="4279392" y="3922776"/>
            <a:ext cx="274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0"/>
          <p:cNvSpPr/>
          <p:nvPr/>
        </p:nvSpPr>
        <p:spPr>
          <a:xfrm>
            <a:off x="4480560" y="3922776"/>
            <a:ext cx="4498848" cy="84124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4480560" y="3922776"/>
            <a:ext cx="54864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169664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4983480" y="4014216"/>
            <a:ext cx="391363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is purpose-built for Singapore's school context and calibrated specifically for the 12–16 age group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71A10"/>
          </a:solidFill>
          <a:ln w="12700">
            <a:solidFill>
              <a:srgbClr val="071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is not a general-purpose chatbot — it is a safeguarded, school-specific tool where every high-risk case leads back to a human.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416</Words>
  <Application>Microsoft Office PowerPoint</Application>
  <PresentationFormat>On-screen Show (16:9)</PresentationFormat>
  <Paragraphs>56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Adil Hadi</cp:lastModifiedBy>
  <cp:revision>1</cp:revision>
  <dcterms:created xsi:type="dcterms:W3CDTF">2026-06-03T11:41:36Z</dcterms:created>
  <dcterms:modified xsi:type="dcterms:W3CDTF">2026-06-04T17:53:32Z</dcterms:modified>
</cp:coreProperties>
</file>